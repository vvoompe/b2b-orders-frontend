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Добрий день. Тема моєї роботи - розроблення клієнтської частини системи підтримки ухвалення рішень щодо B2B-замовлень засобами React. Це індивідуальний STEM-проєкт з дисципліни «Розробник фронтенду програмних систем». Далі покажу проблему, обсяг роботи, реальні екрани й результати перевірок.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Проблема практична: у списку десятки замовлень, і менеджер не бачить, які з них перспективні. Мета роботи - дати йому прогноз, чинники впливу й можливість перерахувати оцінку. Завдання зведені до шести напрямів, які я показав у нижньому рядку.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 системи три ролі, і кожна розв'язує свою задачу. Менеджер приймає рішення за конкретним замовленням, аналітик оцінює якість прогнозів, адміністратор керує доступами. Ролі розділені на рівні маршрутів, а не лише приховані в меню.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Обсяг роботи я поділив на три частини: п'ять екранів, п'ять станів даних на кожному екрані з даними та шість станів однієї кнопки перерахунку. Додатково зробив експорт CSV, копіювання посилання, збереження фільтрів в адресі й панель перемикання станів.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Сценарій лінійний і складається з шести кроків: вхід, список, уточнення вибірки, вибір замовлення, картка з перерахунком і аналітика. Обидві розвилки розміщені там, де користувач справді ухвалює рішення. Гілку помилки входу показано окремо, бо без неї сценарій виглядав би так, ніби помилковий ввід неможливий.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Тут дві діаграми станів. Ліва показує шість станів кнопки перерахунку: звичайний, наведений, натиснутий, завантаження, успіх і помилка. Права - п'ять станів панелі списку: завантаження, дані, порожній результат, помилка з кнопкою «Повторити» та банер про застарілі дані.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Каркаси я зробив до написання коду, щоб домовитися про однакове розташування елементів на всіх екранах: шапка, панель фільтрів, робоча область і пагінація. Це дало змогу не переробляти верстку на етапі реалізації.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Архітектуру я розділив на чотири шари. Екрани не звертаються до мережі напряму: серверний стан живе в TanStack Query, клієнт API відповідає за запити й токен, а замість бекенду працює MSW. Саме тому заміна підставного API на справжній не вимагатиме переписування екранів.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екрані входу є клієнтська перевірка полів, а повідомлення про невдалий вхід однакове для неіснуючого користувача й неправильного пароля. Праворуч - головний екран: таблиця замовлень із прогнозом, панель фільтрів, пагінація та кнопка експорту 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Картка замовлення - центральний екран системи: тут видно прогноз, рівень ризику, чинники впливу й історію змін оцінки. Кнопка перерахунку проходить шість станів і блокує повторні натискання, щоб не створювати дубльованих запитів.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Застосунок працює на трьох контрольних ширинах: 360, 768 і 1280 px. На мобільному таблиця перетворюється на картки, як видно на знімках, і горизонтального скролу немає. Доступність забезпечена семантичними тегами, атрибутами aria, навігацією з клавіатури. Вимоги доступності враховано за WCAG 2.2; окремий аудит контрасту не проводився.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Якість підтверджена числами, а не на словах: збірка проходить без помилок типів, лінтер дає нуль зауважень, тести - 230 перевірок у 18 файлах, усі пройдено. Покриття модулів логіки (lib/api/mocks) становить 96,74 % тверджень, 90,74 % гілок і 98,49 % функцій, що суттєво вище за поріг 80 % із завдання. У реальному браузері помилок консолі не було жодної.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Межі проєкту я фіксую відкрито: реального бекенду й ML-моделі немає, прогноз - детермінована імітація, автентифікація імітована. Далі - заміна підставного API справжнім сервером без зміни коду екранів, реальна модель прогнозу, збережені вибірки й експорт у XLSX.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Підсумую: мета роботи досягнута - застосунок реалізовано, зібрано й перевірено. Найціннішим етапом було проєктування поведінки інтерфейсу та її закріплення тестами. Код, документація й демонстраційні доступи доступні в репозиторії. Дякую за увагу - готовий відповісти на запитання.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57400"/>
          </a:xfrm>
          <a:prstGeom prst="rect">
            <a:avLst/>
          </a:prstGeom>
          <a:solidFill>
            <a:srgbClr val="143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57400"/>
            <a:ext cx="12191695" cy="6400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Київський національний університет імені Тараса Шевченка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FFFFFF"/>
                </a:solidFill>
                <a:latin typeface="Segoe UI"/>
              </a:rPr>
              <a:t>Факультет інформаційних технологій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FFFFFF"/>
                </a:solidFill>
                <a:latin typeface="Segoe UI"/>
              </a:rPr>
              <a:t>Кафедра програмних систем і технологій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BFD4F2"/>
                </a:solidFill>
                <a:latin typeface="Segoe UI"/>
              </a:rPr>
              <a:t>Індивідуальний STEM-проєкт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6070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4305B"/>
                </a:solidFill>
                <a:latin typeface="Segoe UI"/>
              </a:rPr>
              <a:t>Розроблення клієнтської частини системи підтримки ухвалення рішень щодо B2B-замовлень засобами React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160520"/>
            <a:ext cx="237744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434840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1F242C"/>
                </a:solidFill>
                <a:latin typeface="Segoe UI"/>
              </a:rPr>
              <a:t>Виконавець: Олександр МАРКГРАФ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1F242C"/>
                </a:solidFill>
                <a:latin typeface="Segoe UI"/>
              </a:rPr>
              <a:t>Група: ІПЗ-31 (підгрупа 1)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1F242C"/>
                </a:solidFill>
                <a:latin typeface="Segoe UI"/>
              </a:rPr>
              <a:t>Дисципліна: «Розробник фронтенду програмних систем»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F242C"/>
                </a:solidFill>
                <a:latin typeface="Segoe UI"/>
              </a:rPr>
              <a:t>Лекторка: Ірина ЮРЧУК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807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55E6B"/>
                </a:solidFill>
                <a:latin typeface="Segoe UI"/>
              </a:rPr>
              <a:t>Київ, 2026 рік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60807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5E6B"/>
                </a:solidFill>
                <a:latin typeface="Segoe UI"/>
              </a:rPr>
              <a:t>https://github.com/vvoompe/b2b-orders-frontend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4343400"/>
            <a:ext cx="4937760" cy="1600200"/>
          </a:xfrm>
          <a:prstGeom prst="roundRect">
            <a:avLst>
              <a:gd name="adj" fmla="val 4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48272" y="4544568"/>
            <a:ext cx="4425696" cy="1197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14305B"/>
                </a:solidFill>
                <a:latin typeface="Segoe UI"/>
              </a:rPr>
              <a:t>Стек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React 19, Vite, TypeScript (strict), React Router 7, TanStack Query 5, MSW 2, Recharts, CSS Modules, Vitest і React Testing Library.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3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Проблема й мета проєкту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830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E6B"/>
                </a:solidFill>
                <a:latin typeface="Segoe UI"/>
              </a:rPr>
              <a:t>ІПЗ-31 (підгрупа 1) - Олександр Маркграф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83096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E6B"/>
                </a:solidFill>
                <a:latin typeface="Segoe UI"/>
              </a:rPr>
              <a:t>Слайд 2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5486400" cy="3017520"/>
          </a:xfrm>
          <a:prstGeom prst="roundRect">
            <a:avLst>
              <a:gd name="adj" fmla="val 4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389888"/>
            <a:ext cx="4974336" cy="2615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14305B"/>
                </a:solidFill>
                <a:latin typeface="Segoe UI"/>
              </a:rPr>
              <a:t>Проблема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Менеджер бачить список із десятків замовлень без пріоритетів: незрозуміло, за яке братися першим.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«Сухий» список не пояснює, чому одне замовлення перспективніше за інше.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Оцінка перспективності тримається в голові менеджера й не передається команді.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486400" cy="3017520"/>
          </a:xfrm>
          <a:prstGeom prst="roundRect">
            <a:avLst>
              <a:gd name="adj" fmla="val 4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389888"/>
            <a:ext cx="4974336" cy="2615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14305B"/>
                </a:solidFill>
                <a:latin typeface="Segoe UI"/>
              </a:rPr>
              <a:t>Мета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Розробити клієнтську частину системи підтримки ухвалення рішень, яка для кожного B2B-замовлення показує прогноз імовірності успішного закриття, перелік чинників впливу й дає змогу перерахувати прогноз після зміни умов.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Результат - веб-застосунок на React із п'ятьма екранами, підставним API та автоматичними тестами.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434840"/>
            <a:ext cx="11183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900"/>
              </a:spcAft>
            </a:pPr>
            <a:r>
              <a:rPr sz="1900" b="1" i="0">
                <a:solidFill>
                  <a:srgbClr val="14305B"/>
                </a:solidFill>
                <a:latin typeface="Segoe UI"/>
              </a:rPr>
              <a:t>Завдання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892040"/>
            <a:ext cx="3611880" cy="548640"/>
          </a:xfrm>
          <a:prstGeom prst="roundRect">
            <a:avLst>
              <a:gd name="adj" fmla="val 12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946903"/>
            <a:ext cx="33375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4305B"/>
                </a:solidFill>
                <a:latin typeface="Segoe UI"/>
              </a:rPr>
              <a:t>5 екранів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4892040"/>
            <a:ext cx="3611880" cy="548640"/>
          </a:xfrm>
          <a:prstGeom prst="roundRect">
            <a:avLst>
              <a:gd name="adj" fmla="val 12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5696" y="4946903"/>
            <a:ext cx="33375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4305B"/>
                </a:solidFill>
                <a:latin typeface="Segoe UI"/>
              </a:rPr>
              <a:t>5 станів даних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4152" y="4892040"/>
            <a:ext cx="3611880" cy="548640"/>
          </a:xfrm>
          <a:prstGeom prst="roundRect">
            <a:avLst>
              <a:gd name="adj" fmla="val 12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4946903"/>
            <a:ext cx="33375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4305B"/>
                </a:solidFill>
                <a:latin typeface="Segoe UI"/>
              </a:rPr>
              <a:t>6 станів кнопки перерахунку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550407"/>
            <a:ext cx="3611880" cy="548640"/>
          </a:xfrm>
          <a:prstGeom prst="roundRect">
            <a:avLst>
              <a:gd name="adj" fmla="val 12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605271"/>
            <a:ext cx="33375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4305B"/>
                </a:solidFill>
                <a:latin typeface="Segoe UI"/>
              </a:rPr>
              <a:t>ролі й захищені маршрути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88536" y="5550407"/>
            <a:ext cx="3611880" cy="548640"/>
          </a:xfrm>
          <a:prstGeom prst="roundRect">
            <a:avLst>
              <a:gd name="adj" fmla="val 12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25696" y="5605271"/>
            <a:ext cx="33375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4305B"/>
                </a:solidFill>
                <a:latin typeface="Segoe UI"/>
              </a:rPr>
              <a:t>тести з покриттям 96,74 %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4152" y="5550407"/>
            <a:ext cx="3611880" cy="548640"/>
          </a:xfrm>
          <a:prstGeom prst="roundRect">
            <a:avLst>
              <a:gd name="adj" fmla="val 12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11312" y="5605271"/>
            <a:ext cx="33375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4305B"/>
                </a:solidFill>
                <a:latin typeface="Segoe UI"/>
              </a:rPr>
              <a:t>адаптивність 360-1280 px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3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Користувачі та їхні задачі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830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E6B"/>
                </a:solidFill>
                <a:latin typeface="Segoe UI"/>
              </a:rPr>
              <a:t>ІПЗ-31 (підгрупа 1) - Олександр Маркграф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83096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E6B"/>
                </a:solidFill>
                <a:latin typeface="Segoe UI"/>
              </a:rPr>
              <a:t>Слайд 3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3611880" cy="3977639"/>
          </a:xfrm>
          <a:prstGeom prst="roundRect">
            <a:avLst>
              <a:gd name="adj" fmla="val 4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389888"/>
            <a:ext cx="3099816" cy="35753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14305B"/>
                </a:solidFill>
                <a:latin typeface="Segoe UI"/>
              </a:rPr>
              <a:t>1. Менеджер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Власні замовлення: список і картка.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Бачить прогноз успішного закриття й чинники впливу, перераховує оцінку, вивантажує вибірку в CSV, ділиться посиланням.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4305B"/>
                </a:solidFill>
                <a:latin typeface="Segoe UI"/>
              </a:rPr>
              <a:t>Демо-доступ: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manager@demo.ua / manager123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88536" y="1188720"/>
            <a:ext cx="3611880" cy="3977639"/>
          </a:xfrm>
          <a:prstGeom prst="roundRect">
            <a:avLst>
              <a:gd name="adj" fmla="val 4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389888"/>
            <a:ext cx="3099816" cy="35753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14305B"/>
                </a:solidFill>
                <a:latin typeface="Segoe UI"/>
              </a:rPr>
              <a:t>2. Аналітик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Усе, що й менеджер, плюс розділ «Аналітика».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Метрики якості моделі, важливість ознак, тренд метрики за період - щоб оцінити, наскільки прогнозам можна довіряти.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4305B"/>
                </a:solidFill>
                <a:latin typeface="Segoe UI"/>
              </a:rPr>
              <a:t>Демо-доступ: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analyst@demo.ua / analyst123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4152" y="1188720"/>
            <a:ext cx="3611880" cy="3977639"/>
          </a:xfrm>
          <a:prstGeom prst="roundRect">
            <a:avLst>
              <a:gd name="adj" fmla="val 4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0183" y="1389888"/>
            <a:ext cx="3099816" cy="35753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14305B"/>
                </a:solidFill>
                <a:latin typeface="Segoe UI"/>
              </a:rPr>
              <a:t>3. Адміністратор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Повний доступ до даних і екран «Користувачі».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Перелік користувачів і зміна ролі; бачить усі 72 замовлення, тоді як менеджер - лише власні 24.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4305B"/>
                </a:solidFill>
                <a:latin typeface="Segoe UI"/>
              </a:rPr>
              <a:t>Демо-доступ: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admin@demo.ua / admin123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349240"/>
            <a:ext cx="1118311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Ролі розділені на рівні маршрутів: пункт «Аналітика» бачать аналітик і адміністратор, «Користувачі» - лише адміністратор.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Повідомлення про невдалий вхід однакове для неіснуючого користувача й неправильного пароля - щоб облікові дані не можна було підбирати за текстом помилки.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3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Обсяг роботи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830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E6B"/>
                </a:solidFill>
                <a:latin typeface="Segoe UI"/>
              </a:rPr>
              <a:t>ІПЗ-31 (підгрупа 1) - Олександр Маркграф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83096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E6B"/>
                </a:solidFill>
                <a:latin typeface="Segoe UI"/>
              </a:rPr>
              <a:t>Слайд 4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3611880" cy="3063240"/>
          </a:xfrm>
          <a:prstGeom prst="roundRect">
            <a:avLst>
              <a:gd name="adj" fmla="val 4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389888"/>
            <a:ext cx="3099816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14305B"/>
                </a:solidFill>
                <a:latin typeface="Segoe UI"/>
              </a:rPr>
              <a:t>5 екранів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/login - вхід у систему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/orders - список замовлень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/orders/:id - картка замовлення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/analytics - аналітика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/admin/users - користувачі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88536" y="1188720"/>
            <a:ext cx="3611880" cy="3063240"/>
          </a:xfrm>
          <a:prstGeom prst="roundRect">
            <a:avLst>
              <a:gd name="adj" fmla="val 4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389888"/>
            <a:ext cx="3099816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14305B"/>
                </a:solidFill>
                <a:latin typeface="Segoe UI"/>
              </a:rPr>
              <a:t>5 станів даних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loading - скелетон фіксованої висоти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success - дані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empty - «замовлень не знайдено» з порадою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error - повідомлення й кнопка «Повторити»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offline - банер «дані можуть бути застарілими»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4152" y="1188720"/>
            <a:ext cx="3611880" cy="3063240"/>
          </a:xfrm>
          <a:prstGeom prst="roundRect">
            <a:avLst>
              <a:gd name="adj" fmla="val 4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0183" y="1389888"/>
            <a:ext cx="3099816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14305B"/>
                </a:solidFill>
                <a:latin typeface="Segoe UI"/>
              </a:rPr>
              <a:t>6 станів кнопки перерахунку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idle - кнопка доступна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hover - змінюється лише оформлення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active - кнопку натиснуто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loading - повторні натискання заблоковані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success - підтвердження зникає за 2 с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error - можна повторити спробу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389120"/>
            <a:ext cx="11183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4305B"/>
                </a:solidFill>
                <a:latin typeface="Segoe UI"/>
              </a:rPr>
              <a:t>Додатково в обсязі роботи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800600"/>
            <a:ext cx="53949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•  Експорт CSV усієї вибірки з урахуванням фільтрів; файл із BOM, тому Excel коректно показує кирилицю.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•  Копіювання посилання на замовлення в буфер обміну.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•  Фільтри, сортування й номер сторінки зберігаються в адресі сторінки.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800600"/>
            <a:ext cx="53949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•  Токен доступу тримається лише в пам'яті модуля, у сховищі браузера його немає.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•  Підставний API на MSW: затримки, помилки 401/403/404/500, обрив мережі.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•  Панель «Режим перевірки» - перемикання станів без правок коду.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3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Користувацький шлях (user flow)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830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E6B"/>
                </a:solidFill>
                <a:latin typeface="Segoe UI"/>
              </a:rPr>
              <a:t>ІПЗ-31 (підгрупа 1) - Олександр Маркграф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83096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E6B"/>
                </a:solidFill>
                <a:latin typeface="Segoe UI"/>
              </a:rPr>
              <a:t>Слайд 5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694944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900"/>
              </a:spcAft>
            </a:pPr>
            <a:r>
              <a:rPr sz="1900" b="1" i="0">
                <a:solidFill>
                  <a:srgbClr val="14305B"/>
                </a:solidFill>
                <a:latin typeface="Segoe UI"/>
              </a:rPr>
              <a:t>Кроки сценарію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•  Авторизація - перевірка на клієнті й на сервері; помилка повертає на екран входу.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•  Головний екран - список замовлень із прогнозом у кожному рядку.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•  Уточнення вибірки фільтрами - необов'язковий крок.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•  Вибір замовлення зі списку.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•  Картка замовлення - прогноз, чинники впливу, перерахунок.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•  Аналітика - окремий розділ для аналітика.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983480"/>
            <a:ext cx="6949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Обидві розвилки стоять там, де користувач справді ухвалює рішення: на вході та під час формування вибірки.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Обробку помилки авторизації показано окремою гілкою - без неї сценарій виглядав би так, ніби помилковий ввід неможливий.</a:t>
            </a:r>
          </a:p>
        </p:txBody>
      </p:sp>
      <p:pic>
        <p:nvPicPr>
          <p:cNvPr id="9" name="Picture 8" descr="ris1_user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1325880"/>
            <a:ext cx="3730915" cy="4754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55279" y="6144768"/>
            <a:ext cx="37490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555E6B"/>
                </a:solidFill>
                <a:latin typeface="Segoe UI"/>
              </a:rPr>
              <a:t>Рисунок 1. Діаграма кроків сценарію.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3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Діаграма станів кнопки та панелі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830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E6B"/>
                </a:solidFill>
                <a:latin typeface="Segoe UI"/>
              </a:rPr>
              <a:t>ІПЗ-31 (підгрупа 1) - Олександр Маркграф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83096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E6B"/>
                </a:solidFill>
                <a:latin typeface="Segoe UI"/>
              </a:rPr>
              <a:t>Слайд 6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1118311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Кнопка «Перерахувати прогноз» має шість станів, панель списку замовлень - п'ять станів даних. Обидві схеми описують поведінку одного елемента інтерфейсу.</a:t>
            </a:r>
          </a:p>
        </p:txBody>
      </p:sp>
      <p:pic>
        <p:nvPicPr>
          <p:cNvPr id="8" name="Picture 7" descr="ris2_button_st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5486400" cy="3880215"/>
          </a:xfrm>
          <a:prstGeom prst="rect">
            <a:avLst/>
          </a:prstGeom>
        </p:spPr>
      </p:pic>
      <p:pic>
        <p:nvPicPr>
          <p:cNvPr id="9" name="Picture 8" descr="ris3_panel_sta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783080"/>
            <a:ext cx="5486400" cy="410283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943600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555E6B"/>
                </a:solidFill>
                <a:latin typeface="Segoe UI"/>
              </a:rPr>
              <a:t>Рисунок 2. Шість станів кнопки перерахунку прогнозу.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5943600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555E6B"/>
                </a:solidFill>
                <a:latin typeface="Segoe UI"/>
              </a:rPr>
              <a:t>Рисунок 3. П'ять станів панелі списку замовлень.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3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Каркаси екранів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830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E6B"/>
                </a:solidFill>
                <a:latin typeface="Segoe UI"/>
              </a:rPr>
              <a:t>ІПЗ-31 (підгрупа 1) - Олександр Маркграф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83096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E6B"/>
                </a:solidFill>
                <a:latin typeface="Segoe UI"/>
              </a:rPr>
              <a:t>Слайд 7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18311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Схематичне розташування елементів п'яти екранів, узгоджене до написання коду: шапка, панель фільтрів, робоча область і пагінація.</a:t>
            </a:r>
          </a:p>
        </p:txBody>
      </p:sp>
      <p:pic>
        <p:nvPicPr>
          <p:cNvPr id="8" name="Picture 7" descr="ris4_wirefra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681" y="1691640"/>
            <a:ext cx="9009246" cy="4389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08960" y="6144768"/>
            <a:ext cx="5943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555E6B"/>
                </a:solidFill>
                <a:latin typeface="Segoe UI"/>
              </a:rPr>
              <a:t>Рисунок 4. Каркаси екранів застосунку.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3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Архітектура й стек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830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E6B"/>
                </a:solidFill>
                <a:latin typeface="Segoe UI"/>
              </a:rPr>
              <a:t>ІПЗ-31 (підгрупа 1) - Олександр Маркграф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83096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E6B"/>
                </a:solidFill>
                <a:latin typeface="Segoe UI"/>
              </a:rPr>
              <a:t>Слайд 8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305B"/>
                </a:solidFill>
                <a:latin typeface="Segoe UI"/>
              </a:rPr>
              <a:t>Шари застосунку (зверху вниз)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5486400" cy="86868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73352"/>
            <a:ext cx="5120640" cy="7223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Екрани: React 19 і React Router 7 - маршрути, захищені роллю</a:t>
            </a:r>
          </a:p>
        </p:txBody>
      </p:sp>
      <p:sp>
        <p:nvSpPr>
          <p:cNvPr id="10" name="Down Arrow 9"/>
          <p:cNvSpPr/>
          <p:nvPr/>
        </p:nvSpPr>
        <p:spPr>
          <a:xfrm>
            <a:off x="3108960" y="2478024"/>
            <a:ext cx="274320" cy="164592"/>
          </a:xfrm>
          <a:prstGeom prst="downArrow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2642615"/>
            <a:ext cx="5486400" cy="86868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715768"/>
            <a:ext cx="5120640" cy="7223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Серверний стан: TanStack Query 5 - кеш, повторні спроби, збереження даних під час оновлення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3108960" y="3520439"/>
            <a:ext cx="274320" cy="164592"/>
          </a:xfrm>
          <a:prstGeom prst="downArrow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3685031"/>
            <a:ext cx="5486400" cy="86868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58183"/>
            <a:ext cx="5120640" cy="7223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Клієнт API: запити, типи відповідей, токен у пам'яті модуля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3108960" y="4562855"/>
            <a:ext cx="274320" cy="164592"/>
          </a:xfrm>
          <a:prstGeom prst="downArrow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4727447"/>
            <a:ext cx="5486400" cy="86868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800599"/>
            <a:ext cx="5120640" cy="7223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Підставний бекенд: MSW 2 - затримки, помилки 401/403/404/500, обрив мережі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170432"/>
            <a:ext cx="5468112" cy="4937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900"/>
              </a:spcAft>
            </a:pPr>
            <a:r>
              <a:rPr sz="1900" b="1" i="0">
                <a:solidFill>
                  <a:srgbClr val="14305B"/>
                </a:solidFill>
                <a:latin typeface="Segoe UI"/>
              </a:rPr>
              <a:t>Стек і структура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•  React 19, Vite, TypeScript у строгому режимі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•  React Router 7, TanStack Query 5, Recharts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•  MSW 2 - підставний API з керованими станами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•  CSS Modules і змінні дизайн-токенів, без CSS-фреймворку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•  Vitest і React Testing Library; ESLint і Prettier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•  Структура: api/, app/, components/, features/, lib/, mocks/, styles/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943600"/>
            <a:ext cx="11183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Контракт із API описано типами, тому заміна підставного бекенду на справжній не вимагає переписування екранів.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3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Реальні екрани: вхід і список замовлень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830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E6B"/>
                </a:solidFill>
                <a:latin typeface="Segoe UI"/>
              </a:rPr>
              <a:t>ІПЗ-31 (підгрупа 1) - Олександр Маркграф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83096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E6B"/>
                </a:solidFill>
                <a:latin typeface="Segoe UI"/>
              </a:rPr>
              <a:t>Слайд 9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188720"/>
            <a:ext cx="45720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4305B"/>
                </a:solidFill>
                <a:latin typeface="Segoe UI"/>
              </a:rPr>
              <a:t>Вхід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•  Клієнтська перевірка: порожні поля, формат email, довжина пароля.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•  Однакове повідомлення про відмову для неіснуючого користувача й неправильного пароля.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•  Пароль не логується, токен живе лише в пам'яті модуля.</a:t>
            </a:r>
          </a:p>
        </p:txBody>
      </p:sp>
      <p:pic>
        <p:nvPicPr>
          <p:cNvPr id="8" name="Picture 7" descr="ris5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429000"/>
            <a:ext cx="4096511" cy="2560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05840" y="6053328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555E6B"/>
                </a:solidFill>
                <a:latin typeface="Segoe UI"/>
              </a:rPr>
              <a:t>Рисунок 5. Екран входу.</a:t>
            </a:r>
          </a:p>
        </p:txBody>
      </p:sp>
      <p:pic>
        <p:nvPicPr>
          <p:cNvPr id="10" name="Picture 9" descr="ris6_orders_desk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280160"/>
            <a:ext cx="5303520" cy="475475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52160" y="6144768"/>
            <a:ext cx="5303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555E6B"/>
                </a:solidFill>
                <a:latin typeface="Segoe UI"/>
              </a:rPr>
              <a:t>Рисунок 6. Список замовлень (десктоп).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3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Картка замовлення й перерахунок прогнозу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830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E6B"/>
                </a:solidFill>
                <a:latin typeface="Segoe UI"/>
              </a:rPr>
              <a:t>ІПЗ-31 (підгрупа 1) - Олександр Маркграф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83096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E6B"/>
                </a:solidFill>
                <a:latin typeface="Segoe UI"/>
              </a:rPr>
              <a:t>Слайд 10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576072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900"/>
              </a:spcAft>
            </a:pPr>
            <a:r>
              <a:rPr sz="1900" b="1" i="0">
                <a:solidFill>
                  <a:srgbClr val="14305B"/>
                </a:solidFill>
                <a:latin typeface="Segoe UI"/>
              </a:rPr>
              <a:t>Що є в картці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•  Реквізити: номер, клієнт, сума, статус, менеджер, дата створення.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•  Прогноз: числова оцінка ймовірності успішного закриття та рівень ризику.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•  Чинники впливу: перелік ознак, які найбільше змінили оцінку.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•  Історія змін прогнозу: видно, коли оцінка оновлювалася.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•  Кнопка «Перерахувати прогноз» із шістьма станами; повторні натискання заблоковані.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•  Копіювання посилання на замовлення в буфер обміну.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892040"/>
            <a:ext cx="5760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Перерахунок звертається до підставного API так само, як звертався б до справжнього сервера: зі станом завантаження й окремою обробкою помилки.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Після успішного перерахунку оцінка й перелік чинників оновлюються одразу.</a:t>
            </a:r>
          </a:p>
        </p:txBody>
      </p:sp>
      <p:pic>
        <p:nvPicPr>
          <p:cNvPr id="9" name="Picture 8" descr="ris7_order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00200"/>
            <a:ext cx="5376671" cy="41071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09360" y="5806440"/>
            <a:ext cx="53766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555E6B"/>
                </a:solidFill>
                <a:latin typeface="Segoe UI"/>
              </a:rPr>
              <a:t>Рисунок 7. Картка замовлення з прогнозом і чинниками.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3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Адаптивність і доступність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830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E6B"/>
                </a:solidFill>
                <a:latin typeface="Segoe UI"/>
              </a:rPr>
              <a:t>ІПЗ-31 (підгрупа 1) - Олександр Маркграф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83096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E6B"/>
                </a:solidFill>
                <a:latin typeface="Segoe UI"/>
              </a:rPr>
              <a:t>Слайд 11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4389120" cy="4937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14305B"/>
                </a:solidFill>
                <a:latin typeface="Segoe UI"/>
              </a:rPr>
              <a:t>Адаптивність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•  Три контрольні ширини: 360, 768 і 1280 px.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•  До 767 px таблиця стає картками, від 768 px - таблицею.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•  Горизонтального скролу сторінки немає.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6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•  Скелетони фіксованої висоти - верстка не «стрибає».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14305B"/>
                </a:solidFill>
                <a:latin typeface="Segoe UI"/>
              </a:rPr>
              <a:t>Доступність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•  Семантичні теги, aria-live, aria-busy, aria-sort.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•  Навігація з клавіатури та видимий фокус.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•  Вимоги доступності - за WCAG 2.2.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38344" y="1216152"/>
            <a:ext cx="3083232" cy="4626864"/>
          </a:xfrm>
          <a:prstGeom prst="rect">
            <a:avLst/>
          </a:prstGeom>
          <a:noFill/>
          <a:ln w="12700">
            <a:solidFill>
              <a:srgbClr val="C2C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ris12_mobile_par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252728"/>
            <a:ext cx="3010080" cy="455371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238744" y="1216152"/>
            <a:ext cx="3083232" cy="4626864"/>
          </a:xfrm>
          <a:prstGeom prst="rect">
            <a:avLst/>
          </a:prstGeom>
          <a:noFill/>
          <a:ln w="12700">
            <a:solidFill>
              <a:srgbClr val="C2C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ris12_mobile_part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1252728"/>
            <a:ext cx="3010080" cy="45537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74920" y="5943600"/>
            <a:ext cx="6675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555E6B"/>
                </a:solidFill>
                <a:latin typeface="Segoe UI"/>
              </a:rPr>
              <a:t>Рисунок 12. Мобільний список замовлень (ширина 360 px).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3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Якість: тести й перевірки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830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E6B"/>
                </a:solidFill>
                <a:latin typeface="Segoe UI"/>
              </a:rPr>
              <a:t>ІПЗ-31 (підгрупа 1) - Олександр Маркграф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83096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E6B"/>
                </a:solidFill>
                <a:latin typeface="Segoe UI"/>
              </a:rPr>
              <a:t>Слайд 12 / 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188720"/>
          <a:ext cx="11183112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/>
                <a:gridCol w="2743200"/>
                <a:gridCol w="5513832"/>
              </a:tblGrid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Segoe UI"/>
                        </a:rPr>
                        <a:t>Перевірка</a:t>
                      </a:r>
                    </a:p>
                  </a:txBody>
                  <a:tcPr marL="109728" marR="73152" marT="36576" marB="36576" anchor="ctr">
                    <a:solidFill>
                      <a:srgbClr val="1430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Segoe UI"/>
                        </a:rPr>
                        <a:t>Команда / спосіб</a:t>
                      </a:r>
                    </a:p>
                  </a:txBody>
                  <a:tcPr marL="109728" marR="73152" marT="36576" marB="36576" anchor="ctr">
                    <a:solidFill>
                      <a:srgbClr val="1430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Segoe UI"/>
                        </a:rPr>
                        <a:t>Результат</a:t>
                      </a:r>
                    </a:p>
                  </a:txBody>
                  <a:tcPr marL="109728" marR="73152" marT="36576" marB="36576" anchor="ctr">
                    <a:solidFill>
                      <a:srgbClr val="14305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600" b="1">
                          <a:solidFill>
                            <a:srgbClr val="1F242C"/>
                          </a:solidFill>
                          <a:latin typeface="Segoe UI"/>
                        </a:rPr>
                        <a:t>Збірка й типи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600" b="0">
                          <a:solidFill>
                            <a:srgbClr val="1F242C"/>
                          </a:solidFill>
                          <a:latin typeface="Segoe UI"/>
                        </a:rPr>
                        <a:t>npm run build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600" b="0">
                          <a:solidFill>
                            <a:srgbClr val="1F242C"/>
                          </a:solidFill>
                          <a:latin typeface="Segoe UI"/>
                        </a:rPr>
                        <a:t>успішно, без помилок TypeScript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600" b="1">
                          <a:solidFill>
                            <a:srgbClr val="1F242C"/>
                          </a:solidFill>
                          <a:latin typeface="Segoe UI"/>
                        </a:rPr>
                        <a:t>Лінтер</a:t>
                      </a:r>
                    </a:p>
                  </a:txBody>
                  <a:tcPr marL="109728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600" b="0">
                          <a:solidFill>
                            <a:srgbClr val="1F242C"/>
                          </a:solidFill>
                          <a:latin typeface="Segoe UI"/>
                        </a:rPr>
                        <a:t>npm run lint</a:t>
                      </a:r>
                    </a:p>
                  </a:txBody>
                  <a:tcPr marL="109728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600" b="0">
                          <a:solidFill>
                            <a:srgbClr val="1F242C"/>
                          </a:solidFill>
                          <a:latin typeface="Segoe UI"/>
                        </a:rPr>
                        <a:t>0 зауважень</a:t>
                      </a:r>
                    </a:p>
                  </a:txBody>
                  <a:tcPr marL="109728" marR="73152" marT="36576" marB="36576" anchor="ctr">
                    <a:solidFill>
                      <a:srgbClr val="F2F4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600" b="1">
                          <a:solidFill>
                            <a:srgbClr val="1F242C"/>
                          </a:solidFill>
                          <a:latin typeface="Segoe UI"/>
                        </a:rPr>
                        <a:t>Тести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600" b="0">
                          <a:solidFill>
                            <a:srgbClr val="1F242C"/>
                          </a:solidFill>
                          <a:latin typeface="Segoe UI"/>
                        </a:rPr>
                        <a:t>npm test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600" b="0">
                          <a:solidFill>
                            <a:srgbClr val="1F242C"/>
                          </a:solidFill>
                          <a:latin typeface="Segoe UI"/>
                        </a:rPr>
                        <a:t>230 тестів у 18 файлах, усі пройдено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600" b="1">
                          <a:solidFill>
                            <a:srgbClr val="1F242C"/>
                          </a:solidFill>
                          <a:latin typeface="Segoe UI"/>
                        </a:rPr>
                        <a:t>Покриття (модулі логіки lib/api/mocks)</a:t>
                      </a:r>
                    </a:p>
                  </a:txBody>
                  <a:tcPr marL="109728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600" b="0">
                          <a:solidFill>
                            <a:srgbClr val="1F242C"/>
                          </a:solidFill>
                          <a:latin typeface="Segoe UI"/>
                        </a:rPr>
                        <a:t>vitest run --coverage</a:t>
                      </a:r>
                    </a:p>
                  </a:txBody>
                  <a:tcPr marL="109728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600" b="0">
                          <a:solidFill>
                            <a:srgbClr val="1F242C"/>
                          </a:solidFill>
                          <a:latin typeface="Segoe UI"/>
                        </a:rPr>
                        <a:t>96,74 % тверджень, 90,74 % гілок, 98,49 % функцій</a:t>
                      </a:r>
                    </a:p>
                  </a:txBody>
                  <a:tcPr marL="109728" marR="73152" marT="36576" marB="36576" anchor="ctr">
                    <a:solidFill>
                      <a:srgbClr val="F2F4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600" b="1">
                          <a:solidFill>
                            <a:srgbClr val="1F242C"/>
                          </a:solidFill>
                          <a:latin typeface="Segoe UI"/>
                        </a:rPr>
                        <a:t>Перевірка в браузері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600" b="0">
                          <a:solidFill>
                            <a:srgbClr val="1F242C"/>
                          </a:solidFill>
                          <a:latin typeface="Segoe UI"/>
                        </a:rPr>
                        <a:t>Chromium, Edge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600" b="0">
                          <a:solidFill>
                            <a:srgbClr val="1F242C"/>
                          </a:solidFill>
                          <a:latin typeface="Segoe UI"/>
                        </a:rPr>
                        <a:t>вхід, список, картка, перерахунок, аналітика, користувачі - помилок консолі 0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434840"/>
            <a:ext cx="1118311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4305B"/>
                </a:solidFill>
                <a:latin typeface="Segoe UI"/>
              </a:rPr>
              <a:t>Рівні тестів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•  unit: форматери, рівень ризику, query-параметри, фільтрація, прогноз, режим перевірки, клієнт API, валідація входу, CSV.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•  component: OrderTable у чотирьох станах, RecalculateButton - шість станів і заборона подвійного натискання, Filters, LoginPage.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•  integration: логін → список → картка → перерахунок на MSW, фільтри в URL, доступ за ролями.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•  Поріг покриття модулів логіки 80 % заданий у vite.config.ts - збірка падає, якщо поріг не досягнуто.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3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Межі проєкту й подальші кроки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830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E6B"/>
                </a:solidFill>
                <a:latin typeface="Segoe UI"/>
              </a:rPr>
              <a:t>ІПЗ-31 (підгрупа 1) - Олександр Маркграф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83096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E6B"/>
                </a:solidFill>
                <a:latin typeface="Segoe UI"/>
              </a:rPr>
              <a:t>Слайд 13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5486400" cy="5029200"/>
          </a:xfrm>
          <a:prstGeom prst="roundRect">
            <a:avLst>
              <a:gd name="adj" fmla="val 4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389888"/>
            <a:ext cx="4974336" cy="4626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14305B"/>
                </a:solidFill>
                <a:latin typeface="Segoe UI"/>
              </a:rPr>
              <a:t>Межі проєкту (свідомі)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Реального бекенду немає: дані надходять із підставного API на MSW.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Прогноз - детермінована імітація на демонстраційних даних, а не робота ML-моделі.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Метрики якості моделі на екрані «Аналітика» синтетичні - це позначено прямо в інтерфейсі.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Автентифікація імітована: справжнього сервера авторизації немає.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Мобільних застосунків, серверного рендерингу й хмарного розгортання не передбачено - застосунок запускається локально.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Кросбраузерність перевірено в браузерах на рушії Chromium (Chrome і Edge); повний набір рушіїв не тестувався.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Межі зафіксовані в технічному завданні - це не недоробки, а узгоджений обсяг роботи.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486400" cy="5029200"/>
          </a:xfrm>
          <a:prstGeom prst="roundRect">
            <a:avLst>
              <a:gd name="adj" fmla="val 4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389888"/>
            <a:ext cx="4974336" cy="4626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14305B"/>
                </a:solidFill>
                <a:latin typeface="Segoe UI"/>
              </a:rPr>
              <a:t>Подальші кроки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Замінити підставний API справжнім бекендом: контракт описано типами, тому код екранів не змінюється.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Підключити реальну модель прогнозу замість імітації.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Зберігати вибірки за користувачем і повертатися до них пізніше.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Додати експорт у XLSX із форматуванням.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Розширити аналітику порівнянням періодів.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3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Висновки й подяка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830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E6B"/>
                </a:solidFill>
                <a:latin typeface="Segoe UI"/>
              </a:rPr>
              <a:t>ІПЗ-31 (підгрупа 1) - Олександр Маркграф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83096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E6B"/>
                </a:solidFill>
                <a:latin typeface="Segoe UI"/>
              </a:rPr>
              <a:t>Слайд 14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676656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1" i="0">
                <a:solidFill>
                  <a:srgbClr val="14305B"/>
                </a:solidFill>
                <a:latin typeface="Segoe UI"/>
              </a:rPr>
              <a:t>Висновки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•  Мета досягнута: застосунок реалізовано, зібрано, протестовано й перевірено в реальному браузері.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•  Найціннішим було проєктування поведінки: п'ять станів даних і шість станів однієї кнопки описані до написання коду.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•  Серверний стан винесено в TanStack Query - кеш, повторні спроби й збереження попередніх даних дали передбачувану поведінку екранів.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•  Фільтри в адресі сторінки, токен у пам'яті модуля, однакове повідомлення про відмову входу - свідомі рішення на користь зручності й захищеності.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188720"/>
            <a:ext cx="4206240" cy="4023360"/>
          </a:xfrm>
          <a:prstGeom prst="roundRect">
            <a:avLst>
              <a:gd name="adj" fmla="val 4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54111" y="1389888"/>
            <a:ext cx="3694175" cy="3621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14305B"/>
                </a:solidFill>
                <a:latin typeface="Segoe UI"/>
              </a:rPr>
              <a:t>Матеріали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Репозиторій: github.com/vvoompe/b2b-orders-frontend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manager@demo.ua / manager123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analyst@demo.ua / analyst123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admin@demo.ua / admin123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42C"/>
                </a:solidFill>
                <a:latin typeface="Segoe UI"/>
              </a:rPr>
              <a:t>Запуск: npm install, далі npm run dev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394960"/>
            <a:ext cx="11183112" cy="914400"/>
          </a:xfrm>
          <a:prstGeom prst="roundRect">
            <a:avLst>
              <a:gd name="adj" fmla="val 10000"/>
            </a:avLst>
          </a:prstGeom>
          <a:solidFill>
            <a:srgbClr val="143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468112"/>
            <a:ext cx="11183112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Дякую за увагу! Готовий відповісти на запитання.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